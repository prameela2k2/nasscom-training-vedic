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73" r:id="rId5"/>
    <p:sldId id="258" r:id="rId6"/>
    <p:sldId id="259" r:id="rId7"/>
    <p:sldId id="260" r:id="rId8"/>
    <p:sldId id="274" r:id="rId9"/>
    <p:sldId id="261" r:id="rId10"/>
    <p:sldId id="263" r:id="rId11"/>
    <p:sldId id="264" r:id="rId12"/>
    <p:sldId id="266" r:id="rId13"/>
    <p:sldId id="276" r:id="rId14"/>
    <p:sldId id="267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6213A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Linear
Reg.</c:v>
                </c:pt>
                <c:pt idx="2">
                  <c:v>Ridge
(L2)</c:v>
                </c:pt>
                <c:pt idx="3">
                  <c:v>Lasso
(L1)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0.8851</c:v>
                </c:pt>
                <c:pt idx="2">
                  <c:v>0.8851</c:v>
                </c:pt>
                <c:pt idx="3">
                  <c:v>0.88500000000000001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2D-4BEE-99A0-268ACCBFF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6213A"/>
                </a:solidFill>
                <a:latin typeface="Arial"/>
              </a:rPr>
              <a:t>RMSE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Linear
Reg.</c:v>
                </c:pt>
                <c:pt idx="2">
                  <c:v>Ridge
(L2)</c:v>
                </c:pt>
                <c:pt idx="3">
                  <c:v>Lasso
(L1)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2.41E-2</c:v>
                </c:pt>
                <c:pt idx="1">
                  <c:v>39.8322</c:v>
                </c:pt>
                <c:pt idx="2">
                  <c:v>39.832500000000003</c:v>
                </c:pt>
                <c:pt idx="3">
                  <c:v>39.8504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4D-4621-98D9-C9BA8CB5C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09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version: definition + process flow on top, six business-benefit cards below. Close with: 'This is exactly why predicting patent filing trends has real commercial value — it's not just a data exercise.'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question: 'What if you could predict a company's next R&amp;D move just by reading its patents?' Pause after each stat card. Land on: 5G licensing alone is a $15B/year market, so this has real commercial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across row 1 (data prep stages 1-4), then the connector drops down into row 2 for the modeling stages (5-8). Color groups the pipeline into two phases: data prep (deep blue) and modeling/evaluation (teal).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3836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0287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PERSPECTIVE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308647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Ericsson Patent Evolution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10382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Next-Quarter Patent Filings from the Innovation Timeline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106042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6" name="TextBox 15"/>
          <p:cNvSpPr txBox="1"/>
          <p:nvPr/>
        </p:nvSpPr>
        <p:spPr>
          <a:xfrm>
            <a:off x="749808" y="3627291"/>
            <a:ext cx="7510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Ayesha Naureen</a:t>
            </a:r>
          </a:p>
          <a:p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Prameela</a:t>
            </a:r>
          </a:p>
          <a:p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Sai Kiran</a:t>
            </a:r>
          </a:p>
          <a:p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r>
              <a:rPr lang="en-US" sz="2000" i="1" dirty="0" err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</a:t>
            </a:r>
            <a:endParaRPr lang="en-IN" sz="2000" i="1" dirty="0">
              <a:solidFill>
                <a:srgbClr val="F2A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166353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3166353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325779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Innovation Timeline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360526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evolution across four tech eras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17913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217913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430935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465682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quarterly patent output?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69473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5269473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536091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570838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records, 55 columns, target distribution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053308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05330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21447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24922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11-stage ML workflow with leakage fix &amp; tuning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16635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16635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25779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60526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 + Poly Regression compared on RMSE / MAE / R²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21791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4257718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309353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4306041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476063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 Test R²=0.76, MAE≈47 patents/quarter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5D8EC4D1-5D62-B01F-B370-0458C5F52DA5}"/>
              </a:ext>
            </a:extLst>
          </p:cNvPr>
          <p:cNvSpPr/>
          <p:nvPr/>
        </p:nvSpPr>
        <p:spPr>
          <a:xfrm>
            <a:off x="548640" y="2078217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265334AA-8D8B-11BB-14B6-5563159156E0}"/>
              </a:ext>
            </a:extLst>
          </p:cNvPr>
          <p:cNvSpPr/>
          <p:nvPr/>
        </p:nvSpPr>
        <p:spPr>
          <a:xfrm>
            <a:off x="1508760" y="216965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0D086D9-4ECE-FC3E-E083-4D9D4877B6A0}"/>
              </a:ext>
            </a:extLst>
          </p:cNvPr>
          <p:cNvSpPr/>
          <p:nvPr/>
        </p:nvSpPr>
        <p:spPr>
          <a:xfrm>
            <a:off x="1508760" y="2517129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and Ericsson</a:t>
            </a:r>
            <a:endParaRPr lang="en-US" sz="16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B04834F9-A41E-F766-E5CB-541CEB2348ED}"/>
              </a:ext>
            </a:extLst>
          </p:cNvPr>
          <p:cNvSpPr/>
          <p:nvPr/>
        </p:nvSpPr>
        <p:spPr>
          <a:xfrm>
            <a:off x="692124" y="205330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18873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Patent — and Why File One?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26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patent is a </a:t>
            </a:r>
            <a:r>
              <a:rPr lang="en-US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right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granted by a government that gives an inventor </a:t>
            </a: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control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their invention for a limited period — typically 20 years — in exchange for public disclosure.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419270"/>
            <a:ext cx="1956816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40080" y="241927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96896" y="241927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71216" y="2419270"/>
            <a:ext cx="1956816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241927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8032" y="241927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02352" y="2419270"/>
            <a:ext cx="1956816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241927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9168" y="241927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33488" y="2419270"/>
            <a:ext cx="1956816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241927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90304" y="241927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64624" y="2419270"/>
            <a:ext cx="1956816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4624" y="241927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(20 yrs)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 of filing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71596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98848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34440" y="38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22960" y="4310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competitors from copying, protects market share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16552" y="371596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898848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10912" y="38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revenue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599432" y="4310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Royalties — billions/year for firms like Ericsson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193024" y="371596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389884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787384" y="38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leverage</a:t>
            </a: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8375904" y="4310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 cross-licensing deals &amp; litigation defense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640080" y="522472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07608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34440" y="5352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power</a:t>
            </a: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822960" y="58190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 force competitors to license to stay compliant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4416552" y="522472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5407608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010912" y="5352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confidence</a:t>
            </a: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599432" y="58190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R&amp;D health, boosts valuation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8193024" y="5224728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AF4F8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5407608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787384" y="5352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signaling</a:t>
            </a: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8375904" y="58190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trends reveal a company's next big bet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 bwMode="auto">
          <a:xfrm>
            <a:off x="640080" y="1241248"/>
            <a:ext cx="10936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Swedish multinational telecom and networking technology company, founded in 1876.</a:t>
            </a:r>
          </a:p>
          <a:p>
            <a:pPr>
              <a:lnSpc>
                <a:spcPct val="105000"/>
              </a:lnSpc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oldest and largest players in global communications infrastructure.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29771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0939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8813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60,000+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500203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Ericsson patents worldwide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38144" y="2329771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530939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21024" y="298813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5G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621024" y="3500203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17.6–20.1% of all essential 5G patents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36208" y="2329771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530939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9088" y="298813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$15B/yr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419088" y="3500203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5G SEP licensing market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34272" y="2329771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530939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17152" y="2988139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9217152" y="3500203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patent records, 1976–2025</a:t>
            </a:r>
            <a:endParaRPr lang="en-US" sz="14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FF50F08-0494-EDE3-BCE5-5D04C9D60548}"/>
              </a:ext>
            </a:extLst>
          </p:cNvPr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</a:t>
            </a:r>
            <a:endParaRPr lang="en-US" sz="14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2E9C1AF6-8EA2-2083-4B08-8A1F904613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62661"/>
            <a:ext cx="347472" cy="347472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ABDBAEC0-BEDB-244F-3F2A-703FA65AA768}"/>
              </a:ext>
            </a:extLst>
          </p:cNvPr>
          <p:cNvSpPr/>
          <p:nvPr/>
        </p:nvSpPr>
        <p:spPr>
          <a:xfrm>
            <a:off x="1115568" y="4707797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A158AB2-A172-1EFE-63BB-FB70384CEAC3}"/>
              </a:ext>
            </a:extLst>
          </p:cNvPr>
          <p:cNvSpPr/>
          <p:nvPr/>
        </p:nvSpPr>
        <p:spPr>
          <a:xfrm>
            <a:off x="2148840" y="4689509"/>
            <a:ext cx="942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Spearheaded early industry discussions defining 5G requirements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AB524F44-9E96-C132-B983-416BCD75D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475893"/>
            <a:ext cx="347472" cy="347472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9B49A111-0B54-CFD2-4E04-89FCC66D79EC}"/>
              </a:ext>
            </a:extLst>
          </p:cNvPr>
          <p:cNvSpPr/>
          <p:nvPr/>
        </p:nvSpPr>
        <p:spPr>
          <a:xfrm>
            <a:off x="1115568" y="5421029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779A140-7EE9-9D46-DACC-F9A188BBF405}"/>
              </a:ext>
            </a:extLst>
          </p:cNvPr>
          <p:cNvSpPr/>
          <p:nvPr/>
        </p:nvSpPr>
        <p:spPr>
          <a:xfrm>
            <a:off x="2148840" y="5402741"/>
            <a:ext cx="942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the largest patent application in cellular history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1E60522A-908F-3053-0126-F36C12748A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89125"/>
            <a:ext cx="347472" cy="347472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28228A43-90E6-C380-A55F-A2019931D9BC}"/>
              </a:ext>
            </a:extLst>
          </p:cNvPr>
          <p:cNvSpPr/>
          <p:nvPr/>
        </p:nvSpPr>
        <p:spPr>
          <a:xfrm>
            <a:off x="1115568" y="613426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346883EE-DF39-2A52-DD7B-87BE9CC5DC00}"/>
              </a:ext>
            </a:extLst>
          </p:cNvPr>
          <p:cNvSpPr/>
          <p:nvPr/>
        </p:nvSpPr>
        <p:spPr>
          <a:xfrm>
            <a:off x="2148840" y="6115973"/>
            <a:ext cx="9427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live commercial 5G across five continents; researching 6G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002060"/>
                </a:solidFill>
              </a:rPr>
              <a:t>Problem Statement </a:t>
            </a:r>
            <a:endParaRPr lang="en-US" sz="3000" b="1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58759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Ericsson's patent output reflects its R&amp;D investment focus across 5G, AI/ML, cloud-edge, IoT and security. Predicting how many patents will be filed in the upcoming quarter helps R&amp;D leadership plan resourcing, benchmark innovation velocity, and anticipate technology-era shifts before they appear in public filings.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404679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24719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24719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historical, quarterly, and keyword-derived patent features,</a:t>
            </a:r>
            <a:endParaRPr lang="en-US" sz="1250" dirty="0"/>
          </a:p>
          <a:p>
            <a:pPr marL="0" indent="0" algn="just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target_patent_count_next_quarter (a continuous value) — a supervised regression problem.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821999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non-trivial ML problem: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187759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signal hidden inside patent-level rows (lag &amp; rolling features)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types: temporal, text-derived, keyword flags, categorical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leakage from quarter-level aggregates repeated across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1758759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987359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2325687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target_patent_count_next_quarter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290175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0" y="290175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3313239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40467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0" y="340467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240" y="3816159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90759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390759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35240" y="4319079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41051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41051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35240" y="4821999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491343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0" y="491343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118.6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5462079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right-of-center distribution, no major outliers beyond natural range (1–525 patents/quarter).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4552" y="622103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Evolution Across Four Tech Eras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tech_era feature segments five decades of Ericsson filings into four innovation chapters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43100" y="3794760"/>
            <a:ext cx="850392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60804" y="3712464"/>
            <a:ext cx="164592" cy="164592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D5A8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PRE-1990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Telecom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switching, transmission &amp; analog network patents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5444" y="3712464"/>
            <a:ext cx="164592" cy="164592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1B9AA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2G/3G rollout, base-station &amp; antenna innovation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30084" y="3712464"/>
            <a:ext cx="164592" cy="164592"/>
          </a:xfrm>
          <a:prstGeom prst="ellipse">
            <a:avLst/>
          </a:prstGeom>
          <a:solidFill>
            <a:srgbClr val="3EB6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EB6A8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E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395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Devices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4G/LTE, data, cloud-edge &amp; device-software patents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64724" y="371246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F2A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0859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859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5G Era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5G, AI/ML, IoT, security &amp; energy-efficiency patents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signals tracked per era: kw_5g · kw_ai_ml · kw_cloud_edge · kw_security · kw_iot · kw_network · kw_energy · kw_antenna · kw_data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3294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349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Angle: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53492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tech_era and keyword flags are one-hot / binary encoded so the model can learn era-specific filing velocity — e.g. AI/ML and 5G keyword density rising sharply in the Modern (2020s) era drives higher predicted patent counts.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22768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42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30,118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6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patent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722768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142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36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722768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142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236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 (post-encoding)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1722768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142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0" y="236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 (408)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adamvakar/ericsson-innovation-timeline-patent-evolution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90814"/>
              </p:ext>
            </p:extLst>
          </p:nvPr>
        </p:nvGraphicFramePr>
        <p:xfrm>
          <a:off x="548640" y="3736392"/>
          <a:ext cx="10881360" cy="2697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patent_id, patent_type, patent_date, patent_title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record metadata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quarter, month, day_of_week, day_of_year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positioning of each filing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Text-derived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title_len_chars, title_len_words, title_has_number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NLP-style signals from patent titles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flags &amp; counts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kw_ai_ml, kw_5g, kw_iot, keyword_score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Technology-topic indicators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patent_count, utility_share, design_share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Quarter-level summary stats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/ rolling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patent_count_lag1/2/4, roll4_mean, roll8_mean, qoq, yoy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trend capture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tech_era, patent_type (one-hot encoded)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&amp; filing-type context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target_patent_count_next_quarter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predict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0985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9264" y="1947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49808" y="26243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30906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× 55 rows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 (df_raw)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07360" y="26197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7360" y="26014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90824" y="17830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91992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292" y="209854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1448" y="1947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591992" y="26243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91992" y="30906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nulls, dupes,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49544" y="26197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9544" y="26014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3008" y="17830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34176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476" y="20985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23631" y="1947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6434176" y="26243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6434176" y="30906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dtypes, drop 408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null-target rows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791727" y="26197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791727" y="26014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9075191" y="17830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76359" y="19842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659" y="209854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865815" y="1947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9276359" y="26243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&amp; Encoding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9276359" y="30906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patent_type, tech_era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48640" y="42976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49808" y="44988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" y="461314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339264" y="44622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38" name="Text 31"/>
          <p:cNvSpPr/>
          <p:nvPr/>
        </p:nvSpPr>
        <p:spPr>
          <a:xfrm>
            <a:off x="749808" y="51389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</a:t>
            </a:r>
            <a:endParaRPr lang="en-US" sz="1550" dirty="0"/>
          </a:p>
        </p:txBody>
      </p:sp>
      <p:sp>
        <p:nvSpPr>
          <p:cNvPr id="39" name="Text 32"/>
          <p:cNvSpPr/>
          <p:nvPr/>
        </p:nvSpPr>
        <p:spPr>
          <a:xfrm>
            <a:off x="749808" y="56052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GroupShuffleSplit by quarter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train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3107360" y="51343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107360" y="51160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3390824" y="42976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591992" y="44988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6292" y="4613148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181448" y="44622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46" name="Text 38"/>
          <p:cNvSpPr/>
          <p:nvPr/>
        </p:nvSpPr>
        <p:spPr>
          <a:xfrm>
            <a:off x="3591992" y="51389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50" dirty="0"/>
          </a:p>
        </p:txBody>
      </p:sp>
      <p:sp>
        <p:nvSpPr>
          <p:cNvPr id="47" name="Text 39"/>
          <p:cNvSpPr/>
          <p:nvPr/>
        </p:nvSpPr>
        <p:spPr>
          <a:xfrm>
            <a:off x="3591992" y="56052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 fit 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X_train_scaled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5949544" y="51343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949544" y="51160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2"/>
          <p:cNvSpPr/>
          <p:nvPr/>
        </p:nvSpPr>
        <p:spPr>
          <a:xfrm>
            <a:off x="6233008" y="42976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434176" y="44988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476" y="4613148"/>
            <a:ext cx="274320" cy="27432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8023631" y="44622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54" name="Text 45"/>
          <p:cNvSpPr/>
          <p:nvPr/>
        </p:nvSpPr>
        <p:spPr>
          <a:xfrm>
            <a:off x="6434176" y="51389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55" name="Text 46"/>
          <p:cNvSpPr/>
          <p:nvPr/>
        </p:nvSpPr>
        <p:spPr>
          <a:xfrm>
            <a:off x="6434176" y="56052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set</a:t>
            </a:r>
            <a:endParaRPr lang="en-US" sz="1400" dirty="0"/>
          </a:p>
        </p:txBody>
      </p:sp>
      <p:sp>
        <p:nvSpPr>
          <p:cNvPr id="56" name="Shape 47"/>
          <p:cNvSpPr/>
          <p:nvPr/>
        </p:nvSpPr>
        <p:spPr>
          <a:xfrm>
            <a:off x="8791727" y="51343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6DD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8791727" y="511606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49"/>
          <p:cNvSpPr/>
          <p:nvPr/>
        </p:nvSpPr>
        <p:spPr>
          <a:xfrm>
            <a:off x="9075191" y="4297680"/>
            <a:ext cx="2567864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  <a:effectLst>
            <a:outerShdw blurRad="889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9276359" y="4498848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0659" y="4613148"/>
            <a:ext cx="274320" cy="27432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0865815" y="44622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62" name="Text 52"/>
          <p:cNvSpPr/>
          <p:nvPr/>
        </p:nvSpPr>
        <p:spPr>
          <a:xfrm>
            <a:off x="9276359" y="5138928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550" dirty="0"/>
          </a:p>
        </p:txBody>
      </p:sp>
      <p:sp>
        <p:nvSpPr>
          <p:cNvPr id="63" name="Text 53"/>
          <p:cNvSpPr/>
          <p:nvPr/>
        </p:nvSpPr>
        <p:spPr>
          <a:xfrm>
            <a:off x="9276359" y="5605272"/>
            <a:ext cx="216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error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export</a:t>
            </a:r>
            <a:endParaRPr lang="en-US" sz="1400" dirty="0"/>
          </a:p>
        </p:txBody>
      </p:sp>
      <p:sp>
        <p:nvSpPr>
          <p:cNvPr id="66" name="Shape 56"/>
          <p:cNvSpPr/>
          <p:nvPr/>
        </p:nvSpPr>
        <p:spPr>
          <a:xfrm>
            <a:off x="548640" y="6574536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7" name="Text 57"/>
          <p:cNvSpPr/>
          <p:nvPr/>
        </p:nvSpPr>
        <p:spPr>
          <a:xfrm>
            <a:off x="804672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68" name="Shape 58"/>
          <p:cNvSpPr/>
          <p:nvPr/>
        </p:nvSpPr>
        <p:spPr>
          <a:xfrm>
            <a:off x="2743200" y="657453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Text 59"/>
          <p:cNvSpPr/>
          <p:nvPr/>
        </p:nvSpPr>
        <p:spPr>
          <a:xfrm>
            <a:off x="2999232" y="6537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Evaluation</a:t>
            </a:r>
            <a:endParaRPr lang="en-US" sz="110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9608625-2149-4178-6DA7-7EACCA7E9C6F}"/>
              </a:ext>
            </a:extLst>
          </p:cNvPr>
          <p:cNvCxnSpPr>
            <a:stCxn id="28" idx="2"/>
            <a:endCxn id="34" idx="0"/>
          </p:cNvCxnSpPr>
          <p:nvPr/>
        </p:nvCxnSpPr>
        <p:spPr>
          <a:xfrm rot="5400000">
            <a:off x="5821528" y="-239915"/>
            <a:ext cx="548640" cy="85265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</a:t>
            </a:r>
            <a:r>
              <a:rPr lang="en-US" sz="1200" b="1" kern="0" spc="200" dirty="0" smtClean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651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 </a:t>
            </a: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rows × 55 columns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28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target column — 408 rows (1.35%), confined to the most recent quarter (no future label yet)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050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0050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 </a:t>
            </a: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none found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46817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columns:  </a:t>
            </a: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patent_id, patent_type, patent_date, patent_title, quarter_end, tech_era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53583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distribution:  </a:t>
            </a: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Right-leaning, continuous, range 1–525, mean ≈ 300.6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201168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Correlations with Target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578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(top 15 numeric features) shows the strongest linear relationships: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patent_count_roll4_mean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31546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3154680"/>
            <a:ext cx="2234794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3074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5204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52560" y="356616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3566160"/>
            <a:ext cx="2163470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61750" y="3502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patent_count_roll8_mean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52560" y="397764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3977640"/>
            <a:ext cx="2115922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0" name="Text 28"/>
          <p:cNvSpPr/>
          <p:nvPr/>
        </p:nvSpPr>
        <p:spPr>
          <a:xfrm>
            <a:off x="11214202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4343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52560" y="438912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4389120"/>
            <a:ext cx="2044598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11142878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4754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052560" y="480060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7" name="Shape 35"/>
          <p:cNvSpPr/>
          <p:nvPr/>
        </p:nvSpPr>
        <p:spPr>
          <a:xfrm>
            <a:off x="9052560" y="4800600"/>
            <a:ext cx="1854403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8" name="Text 36"/>
          <p:cNvSpPr/>
          <p:nvPr/>
        </p:nvSpPr>
        <p:spPr>
          <a:xfrm>
            <a:off x="10952683" y="47365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5166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keyword_score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52560" y="52120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1" name="Shape 39"/>
          <p:cNvSpPr/>
          <p:nvPr/>
        </p:nvSpPr>
        <p:spPr>
          <a:xfrm>
            <a:off x="9052560" y="5212080"/>
            <a:ext cx="998525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2" name="Text 40"/>
          <p:cNvSpPr/>
          <p:nvPr/>
        </p:nvSpPr>
        <p:spPr>
          <a:xfrm>
            <a:off x="10096805" y="5148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26480" y="5532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rolling-average features dominate the correlation table — a strong early signal that the target is itself derived from historical patent_count aggregates.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</a:t>
            </a: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 — Linearity Test Included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9661" y="1921209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6045" y="2149809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656045" y="214980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6821" y="2835609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4253" y="3429969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hyperplane through scaled features.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6821" y="4664409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1006821" y="4664409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5311" y="1921209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1695" y="2149809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11695" y="214980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62471" y="2835609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89903" y="3429969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L2 penalty; tames multicollinearity among lag features.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62471" y="4664409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662471" y="4664409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baseline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94972" y="1921209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1356" y="2149809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181356" y="214980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2132" y="2835609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9564" y="3429969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can shrink weak feature coefficients to exactly zero.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2132" y="4664409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2132" y="4664409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feature selection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11713" y="1921209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98097" y="2149809"/>
            <a:ext cx="512064" cy="51206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7" name="Text 25"/>
          <p:cNvSpPr/>
          <p:nvPr/>
        </p:nvSpPr>
        <p:spPr>
          <a:xfrm>
            <a:off x="9798097" y="214980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8873" y="2835609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76305" y="3429969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captures non-linear, interaction effects. Compared against Poly Ridge to decide if non-linearity is real.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8873" y="4664409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B9AAA"/>
          </a:solidFill>
          <a:ln/>
        </p:spPr>
      </p:sp>
      <p:sp>
        <p:nvSpPr>
          <p:cNvPr id="31" name="Text 29"/>
          <p:cNvSpPr/>
          <p:nvPr/>
        </p:nvSpPr>
        <p:spPr>
          <a:xfrm>
            <a:off x="9148873" y="4664409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Before Tuning (Honest Results)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763910"/>
              </p:ext>
            </p:extLst>
          </p:nvPr>
        </p:nvGraphicFramePr>
        <p:xfrm>
          <a:off x="548640" y="1965960"/>
          <a:ext cx="5486400" cy="2209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method: GroupShuffleSplit (quarter-aware) — prevents same-quarter leakage. Poly Ridge deg2 &amp; deg3 added; XGBoost removed.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after fixing data leakage (GroupShuffleSplit by quarter) and removing same-quarter memorisation. RF Test R²=0.76 is the best untuned score. Linear-family models cluster around Test R²≈0.70 — regularisation has mild effect once lag/rolling features are included.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207192501"/>
              </p:ext>
            </p:extLst>
          </p:nvPr>
        </p:nvGraphicFramePr>
        <p:xfrm>
          <a:off x="6355080" y="192024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747031031"/>
              </p:ext>
            </p:extLst>
          </p:nvPr>
        </p:nvGraphicFramePr>
        <p:xfrm>
          <a:off x="6355080" y="4434840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 — Best Model (Random Forest)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0" y="201168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7086600" y="2011680"/>
            <a:ext cx="4343400" cy="446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/>
              <a:t>Each blue dot = one patent in the test </a:t>
            </a:r>
            <a:r>
              <a:rPr lang="en-IN" sz="1400" dirty="0" smtClean="0"/>
              <a:t>set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X </a:t>
            </a:r>
            <a:r>
              <a:rPr lang="en-IN" sz="1400" dirty="0"/>
              <a:t>= actual count, Y = predicted </a:t>
            </a:r>
            <a:r>
              <a:rPr lang="en-IN" sz="1400" dirty="0" smtClean="0"/>
              <a:t>count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Red </a:t>
            </a:r>
            <a:r>
              <a:rPr lang="en-IN" sz="1400" dirty="0"/>
              <a:t>dashed line = perfect prediction (y = x</a:t>
            </a:r>
            <a:r>
              <a:rPr lang="en-IN" sz="1400" dirty="0" smtClean="0"/>
              <a:t>)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Dots </a:t>
            </a:r>
            <a:r>
              <a:rPr lang="en-IN" sz="1400" dirty="0"/>
              <a:t>above → over-predicted | Dots below → </a:t>
            </a:r>
            <a:r>
              <a:rPr lang="en-IN" sz="1400" dirty="0" smtClean="0"/>
              <a:t>under-predicted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Orange </a:t>
            </a:r>
            <a:r>
              <a:rPr lang="en-IN" sz="1400" dirty="0"/>
              <a:t>band = ±45 patent MAE </a:t>
            </a:r>
            <a:r>
              <a:rPr lang="en-IN" sz="1400" dirty="0" smtClean="0"/>
              <a:t>zone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Most </a:t>
            </a:r>
            <a:r>
              <a:rPr lang="en-IN" sz="1400" dirty="0"/>
              <a:t>dots fall inside — confirms MAE ≈ 47 is </a:t>
            </a:r>
            <a:r>
              <a:rPr lang="en-IN" sz="1400" dirty="0" smtClean="0"/>
              <a:t>realistic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Scatter </a:t>
            </a:r>
            <a:r>
              <a:rPr lang="en-IN" sz="1400" dirty="0"/>
              <a:t>pattern = honest </a:t>
            </a:r>
            <a:r>
              <a:rPr lang="en-IN" sz="1400" dirty="0" smtClean="0"/>
              <a:t>model</a:t>
            </a: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IN" sz="1400" dirty="0" smtClean="0"/>
              <a:t>Tighter </a:t>
            </a:r>
            <a:r>
              <a:rPr lang="en-IN" sz="1400" dirty="0"/>
              <a:t>in the 200–350 range where most data lives. Wider at extremes (rare quarters). No perfect diagonal — this is genuine forecasting, not memorisation.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7" y="1407460"/>
            <a:ext cx="5883761" cy="51389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7345" y="501162"/>
            <a:ext cx="9574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solidFill>
                  <a:schemeClr val="accent5">
                    <a:lumMod val="75000"/>
                  </a:schemeClr>
                </a:solidFill>
              </a:rPr>
              <a:t>Domain Forecast</a:t>
            </a:r>
          </a:p>
          <a:p>
            <a:r>
              <a:rPr lang="en-IN" dirty="0" smtClean="0"/>
              <a:t>Tech Domain forecast of Next Quarter Patent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286" y="1217963"/>
            <a:ext cx="8079427" cy="442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72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</a:t>
            </a: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-</a:t>
            </a:r>
            <a:r>
              <a:rPr lang="en-US" sz="3000" b="1" dirty="0" smtClean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Forest(Tuned)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AutoShape 2" descr="blob:https://web.whatsapp.com/2bd92efc-cc5a-4e30-bb6c-238a4a298be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885" y="1602664"/>
            <a:ext cx="6450037" cy="38537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00787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0787" y="2011680"/>
            <a:ext cx="361188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900787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/ Lasso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29387" y="27889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R²=0.72 — explains 72% of variance</a:t>
            </a:r>
            <a:endParaRPr lang="en-US" sz="1400" dirty="0" smtClean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59.4, MAE ≈ 47.3 (tuned Ridge)</a:t>
            </a:r>
            <a:endParaRPr lang="en-US" sz="1400" dirty="0" smtClean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performance — no leakage exposure</a:t>
            </a:r>
            <a:endParaRPr lang="en-US" sz="1400" dirty="0" smtClean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400" dirty="0" smtClean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reporting &amp; forecasting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7029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7029" y="201168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57029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5629" y="27889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R²=0.76, RMSE=54.9, MAE=46.7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error driven by quarter-level leakage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 after GroupShuffleSplit fix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eliminated </a:t>
            </a: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</a:t>
            </a: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R² over linear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production </a:t>
            </a:r>
            <a:r>
              <a:rPr lang="en-US" sz="1400" dirty="0" smtClean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</a:t>
            </a: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11-stage pipeline cleaned 30,118 Ericsson patent records, fixed data leakage, applied GroupShuffleSplit, and tuned models with GroupKFold cross-validation.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same-quarter leakage with GroupShuffleSplit, Random Forest (tuned) delivers the best honest result: Test R²=0.76, RMSE=54.9, MAE≈47 patents/quarter — a deployable forecast.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51129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(deg2, deg3) was tested but eliminated — it adds no meaningful Test R² gain over Ridge (&lt;0.005 delta), confirming the data relationship is moderately linear. XGBoost was removed.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525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and rolling-average features (patent_count_lag1, roll4_mean, roll8_mean) are the strongest predictors — recent filing momentum drives near-term forecasts more than any single keyword.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193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deploy tuned Random Forest (max_depth=10, min_samples_leaf=5, n_estimators=200) for Ericsson R&amp;D planning. Domain-specific models (5G, AI/ML, Network etc.) provide per-technology quarterly forecasts.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08" y="35204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— Machine Learning Forecasting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1740</Words>
  <Application>Microsoft Office PowerPoint</Application>
  <PresentationFormat>Widescreen</PresentationFormat>
  <Paragraphs>342</Paragraphs>
  <Slides>17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Ericsson Patent Evolution — ML Forecasting Pipeline</dc:title>
  <dc:subject>PptxGenJS Presentation</dc:subject>
  <dc:creator>ML Pipeline Team</dc:creator>
  <cp:lastModifiedBy>Ayesha Khan</cp:lastModifiedBy>
  <cp:revision>56</cp:revision>
  <dcterms:created xsi:type="dcterms:W3CDTF">2026-06-21T15:38:18Z</dcterms:created>
  <dcterms:modified xsi:type="dcterms:W3CDTF">2026-06-22T17:27:33Z</dcterms:modified>
</cp:coreProperties>
</file>